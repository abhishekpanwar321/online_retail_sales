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804D96A-071E-42E1-A3A6-0899012C42C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366D3-9B22-4F27-B6C4-D7D8A0471F0E}" v="21" dt="2025-11-13T11:59:45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32A2-D2D2-72F7-0170-22EFA4A4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6980"/>
            <a:ext cx="11353800" cy="858018"/>
          </a:xfrm>
        </p:spPr>
        <p:txBody>
          <a:bodyPr>
            <a:normAutofit/>
          </a:bodyPr>
          <a:lstStyle/>
          <a:p>
            <a:r>
              <a:rPr lang="en-US" dirty="0"/>
              <a:t>STEP 1 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C07A09-1FCC-96AF-61FB-E83E25AD2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5216"/>
            <a:ext cx="12192000" cy="48527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68698-9BFD-AC7A-D396-4D720B076ACD}"/>
              </a:ext>
            </a:extLst>
          </p:cNvPr>
          <p:cNvSpPr txBox="1"/>
          <p:nvPr/>
        </p:nvSpPr>
        <p:spPr>
          <a:xfrm>
            <a:off x="0" y="501445"/>
            <a:ext cx="119953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is the first and most important step of analysis.</a:t>
            </a:r>
            <a:br>
              <a:rPr lang="en-US" dirty="0"/>
            </a:br>
            <a:r>
              <a:rPr lang="en-US" dirty="0"/>
              <a:t>In this stage, we handled missing values, corrected data types, and ensured data consistency across key fields such as Order ID, Status, Fulfilment, and Sales Channel.</a:t>
            </a:r>
            <a:br>
              <a:rPr lang="en-US" dirty="0"/>
            </a:br>
            <a:r>
              <a:rPr lang="en-US" dirty="0"/>
              <a:t>Null values in the </a:t>
            </a:r>
            <a:r>
              <a:rPr lang="en-US" i="1" dirty="0"/>
              <a:t>Amount</a:t>
            </a:r>
            <a:r>
              <a:rPr lang="en-US" dirty="0"/>
              <a:t> column were replaced with the </a:t>
            </a:r>
            <a:r>
              <a:rPr lang="en-US" b="1" dirty="0"/>
              <a:t>median value</a:t>
            </a:r>
            <a:r>
              <a:rPr lang="en-US" dirty="0"/>
              <a:t> to avoid skewing revenue insights.</a:t>
            </a:r>
            <a:br>
              <a:rPr lang="en-US" dirty="0"/>
            </a:br>
            <a:r>
              <a:rPr lang="en-US" dirty="0"/>
              <a:t>This ensures that every record contributes accurately to the final analysis.</a:t>
            </a:r>
          </a:p>
        </p:txBody>
      </p:sp>
    </p:spTree>
    <p:extLst>
      <p:ext uri="{BB962C8B-B14F-4D97-AF65-F5344CB8AC3E}">
        <p14:creationId xmlns:p14="http://schemas.microsoft.com/office/powerpoint/2010/main" val="263537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5A70-315F-46B7-67D2-ABB16D05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580102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 Dashboard Explanation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1424A2-A94D-7B57-267D-D061305FF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05111"/>
            <a:ext cx="12191999" cy="5452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0595A5-3843-7DDC-ABC1-134A763C479A}"/>
              </a:ext>
            </a:extLst>
          </p:cNvPr>
          <p:cNvSpPr txBox="1"/>
          <p:nvPr/>
        </p:nvSpPr>
        <p:spPr>
          <a:xfrm>
            <a:off x="147484" y="481781"/>
            <a:ext cx="11680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dashboard presents a complete view of sales performance from April to June 2022.</a:t>
            </a:r>
            <a:br>
              <a:rPr lang="en-US" dirty="0"/>
            </a:br>
            <a:r>
              <a:rPr lang="en-US" dirty="0"/>
              <a:t>It highlights key business metrics such as </a:t>
            </a:r>
            <a:r>
              <a:rPr lang="en-US" b="1" dirty="0"/>
              <a:t>Total Revenue (77.57M)</a:t>
            </a:r>
            <a:r>
              <a:rPr lang="en-US" dirty="0"/>
              <a:t>, </a:t>
            </a:r>
            <a:r>
              <a:rPr lang="en-US" b="1" dirty="0"/>
              <a:t>Total Orders (128.95K)</a:t>
            </a:r>
            <a:r>
              <a:rPr lang="en-US" dirty="0"/>
              <a:t>, </a:t>
            </a:r>
            <a:r>
              <a:rPr lang="en-US" b="1" dirty="0"/>
              <a:t>Total Quantity (117K)</a:t>
            </a:r>
            <a:r>
              <a:rPr lang="en-US" dirty="0"/>
              <a:t>, and </a:t>
            </a:r>
            <a:r>
              <a:rPr lang="en-US" b="1" dirty="0"/>
              <a:t>Cancelled Orders (18.34K)</a:t>
            </a:r>
            <a:r>
              <a:rPr lang="en-US" dirty="0"/>
              <a:t>, allowing quick evaluation of overall business health.</a:t>
            </a:r>
          </a:p>
        </p:txBody>
      </p:sp>
    </p:spTree>
    <p:extLst>
      <p:ext uri="{BB962C8B-B14F-4D97-AF65-F5344CB8AC3E}">
        <p14:creationId xmlns:p14="http://schemas.microsoft.com/office/powerpoint/2010/main" val="63982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B840-2733-1BA6-8ED8-22B5DB7E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3637"/>
            <a:ext cx="11353800" cy="840385"/>
          </a:xfrm>
        </p:spPr>
        <p:txBody>
          <a:bodyPr/>
          <a:lstStyle/>
          <a:p>
            <a:r>
              <a:rPr lang="en-US" dirty="0"/>
              <a:t>STEP 3 KPI Summary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12590-78D0-BFC4-65A9-4978AF215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91" y="3223038"/>
            <a:ext cx="12103509" cy="35463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51F455-DF12-1E91-AE24-8A429D10C8F0}"/>
              </a:ext>
            </a:extLst>
          </p:cNvPr>
          <p:cNvSpPr txBox="1"/>
          <p:nvPr/>
        </p:nvSpPr>
        <p:spPr>
          <a:xfrm>
            <a:off x="88490" y="599767"/>
            <a:ext cx="12103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key performance indicators provide a quick snapshot of the overall business health and sales performance within the selected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revenue generated during the selected period: 77.57M.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quantity sold across all products: 117K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of orders placed: 128.95K.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of cancelled orders: 18.34K, giving insight into order issues.</a:t>
            </a:r>
          </a:p>
        </p:txBody>
      </p:sp>
    </p:spTree>
    <p:extLst>
      <p:ext uri="{BB962C8B-B14F-4D97-AF65-F5344CB8AC3E}">
        <p14:creationId xmlns:p14="http://schemas.microsoft.com/office/powerpoint/2010/main" val="132453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C2FB-27CA-818F-D1B6-174ACDF3D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" y="1"/>
            <a:ext cx="11347910" cy="578327"/>
          </a:xfrm>
        </p:spPr>
        <p:txBody>
          <a:bodyPr>
            <a:normAutofit fontScale="90000"/>
          </a:bodyPr>
          <a:lstStyle/>
          <a:p>
            <a:r>
              <a:rPr lang="en-US" dirty="0"/>
              <a:t>STEP 4 Revenue by 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11E6F5-8F2D-8F39-CEBC-2FD77F9A6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0" y="1918164"/>
            <a:ext cx="12186109" cy="49398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EA4FB3-C2F9-CB52-041D-9DCA90558576}"/>
              </a:ext>
            </a:extLst>
          </p:cNvPr>
          <p:cNvSpPr txBox="1"/>
          <p:nvPr/>
        </p:nvSpPr>
        <p:spPr>
          <a:xfrm>
            <a:off x="5890" y="578328"/>
            <a:ext cx="11956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line chart shows the daily revenue pattern from </a:t>
            </a:r>
            <a:r>
              <a:rPr lang="en-US" b="1" dirty="0"/>
              <a:t>April to June 2022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revenue remains consistently above the </a:t>
            </a:r>
            <a:r>
              <a:rPr lang="en-US" b="1" dirty="0"/>
              <a:t>1M mark</a:t>
            </a:r>
            <a:r>
              <a:rPr lang="en-US" dirty="0"/>
              <a:t>, indicating stable and reliable sales performance throughout the period.</a:t>
            </a:r>
          </a:p>
          <a:p>
            <a:r>
              <a:rPr lang="en-US" dirty="0"/>
              <a:t>The overall trend stays </a:t>
            </a:r>
            <a:r>
              <a:rPr lang="en-US" b="1" dirty="0"/>
              <a:t>relatively stable</a:t>
            </a:r>
            <a:r>
              <a:rPr lang="en-US" dirty="0"/>
              <a:t>, with normal fluctuations indicating regular customer activity.</a:t>
            </a:r>
          </a:p>
        </p:txBody>
      </p:sp>
    </p:spTree>
    <p:extLst>
      <p:ext uri="{BB962C8B-B14F-4D97-AF65-F5344CB8AC3E}">
        <p14:creationId xmlns:p14="http://schemas.microsoft.com/office/powerpoint/2010/main" val="417702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1D59-A52C-D42C-732B-5A1C82D2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660"/>
            <a:ext cx="10515600" cy="52961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5 Revenue Distribution by State and 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176E9-A5C5-84CB-2C07-789ABAD0E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9187" y="2694039"/>
            <a:ext cx="6253321" cy="41639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2B0AB-07D7-A8D6-0503-EB643B09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" y="2694039"/>
            <a:ext cx="5743622" cy="4163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066254-105F-B811-BC53-CCE61B243CD5}"/>
              </a:ext>
            </a:extLst>
          </p:cNvPr>
          <p:cNvSpPr txBox="1"/>
          <p:nvPr/>
        </p:nvSpPr>
        <p:spPr>
          <a:xfrm>
            <a:off x="0" y="507325"/>
            <a:ext cx="1197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State-wise Revenue Contribution</a:t>
            </a:r>
          </a:p>
          <a:p>
            <a:r>
              <a:rPr lang="en-US" dirty="0"/>
              <a:t>The donut chart highlights how different states contribute to overall revenue.</a:t>
            </a:r>
            <a:br>
              <a:rPr lang="en-US" dirty="0"/>
            </a:br>
            <a:r>
              <a:rPr lang="en-US" dirty="0"/>
              <a:t>Two states dominate the sales performance: </a:t>
            </a:r>
            <a:r>
              <a:rPr lang="en-US" b="1" dirty="0"/>
              <a:t>Maharashtra – 25.6%</a:t>
            </a:r>
            <a:r>
              <a:rPr lang="en-US" dirty="0"/>
              <a:t> (highest contributor) </a:t>
            </a:r>
            <a:r>
              <a:rPr lang="en-US" b="1" dirty="0"/>
              <a:t>Karnataka – 20.22%</a:t>
            </a:r>
            <a:r>
              <a:rPr lang="en-US" dirty="0"/>
              <a:t> (second highest)</a:t>
            </a:r>
          </a:p>
          <a:p>
            <a:r>
              <a:rPr lang="en-US" b="1" dirty="0"/>
              <a:t>City-wise Revenue Breakdown</a:t>
            </a:r>
          </a:p>
          <a:p>
            <a:r>
              <a:rPr lang="en-US" dirty="0"/>
              <a:t>The bar chart displays revenue at the city level.</a:t>
            </a:r>
            <a:br>
              <a:rPr lang="en-US" dirty="0"/>
            </a:br>
            <a:r>
              <a:rPr lang="en-US" dirty="0"/>
              <a:t>Top-performing cities include: </a:t>
            </a:r>
            <a:r>
              <a:rPr lang="en-US" b="1" dirty="0"/>
              <a:t>Bengaluru – 7.2M</a:t>
            </a:r>
            <a:r>
              <a:rPr lang="en-US" dirty="0"/>
              <a:t> (highest revenue-generating city) </a:t>
            </a:r>
            <a:r>
              <a:rPr lang="en-US" b="1" dirty="0"/>
              <a:t>Hyderabad – 5.5M</a:t>
            </a:r>
            <a:r>
              <a:rPr lang="en-US" dirty="0"/>
              <a:t> </a:t>
            </a:r>
            <a:r>
              <a:rPr lang="en-US" b="1" dirty="0"/>
              <a:t>Mumbai – 4.3M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8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44E0-59FB-5375-CFDF-E9066E83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1943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6 Revenue by Category &amp; Product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C4B2A-2D58-CE56-8774-4C582FEA8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03310"/>
            <a:ext cx="6233652" cy="415468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01E668-66A6-1F30-5CAA-B1FC28DF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310" y="2711708"/>
            <a:ext cx="5879690" cy="41378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102B9C-AA18-11B9-A524-29013E84B820}"/>
              </a:ext>
            </a:extLst>
          </p:cNvPr>
          <p:cNvSpPr txBox="1"/>
          <p:nvPr/>
        </p:nvSpPr>
        <p:spPr>
          <a:xfrm>
            <a:off x="98323" y="540774"/>
            <a:ext cx="120150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Donut chart showing revenue distribution across product categories. Set contributes ~50%, kurta ~28%.</a:t>
            </a:r>
          </a:p>
          <a:p>
            <a:r>
              <a:rPr lang="en-US" b="1" dirty="0"/>
              <a:t>Revenue by Category</a:t>
            </a:r>
          </a:p>
          <a:p>
            <a:r>
              <a:rPr lang="en-US" dirty="0"/>
              <a:t>The donut chart illustrates the contribution of each product category to the total revenue.</a:t>
            </a:r>
            <a:br>
              <a:rPr lang="en-US" dirty="0"/>
            </a:br>
            <a:r>
              <a:rPr lang="en-US" dirty="0"/>
              <a:t>The distribution is dominated by: </a:t>
            </a:r>
            <a:r>
              <a:rPr lang="en-US" b="1" dirty="0"/>
              <a:t>Set – 38.59M (50.23%)</a:t>
            </a:r>
            <a:r>
              <a:rPr lang="en-US" dirty="0"/>
              <a:t> , </a:t>
            </a:r>
            <a:r>
              <a:rPr lang="en-US" b="1" dirty="0"/>
              <a:t>Kurta – 21.25M (27.66%)</a:t>
            </a:r>
          </a:p>
          <a:p>
            <a:r>
              <a:rPr lang="en-US" b="1" dirty="0"/>
              <a:t>Revenue by Size</a:t>
            </a:r>
          </a:p>
          <a:p>
            <a:r>
              <a:rPr lang="en-US" dirty="0"/>
              <a:t>The horizontal bar chart shows revenue distribution based on product size.</a:t>
            </a:r>
            <a:br>
              <a:rPr lang="en-US" dirty="0"/>
            </a:br>
            <a:r>
              <a:rPr lang="en-US" dirty="0"/>
              <a:t>Top performing sizes include: </a:t>
            </a:r>
            <a:r>
              <a:rPr lang="en-US" b="1" dirty="0"/>
              <a:t>M – 13.70M (highest revenue)</a:t>
            </a:r>
            <a:r>
              <a:rPr lang="en-US" dirty="0"/>
              <a:t> , </a:t>
            </a:r>
            <a:r>
              <a:rPr lang="en-US" b="1" dirty="0"/>
              <a:t>L – 13.07M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9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3757-8F44-32DA-69EB-281EEE62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826" y="-117987"/>
            <a:ext cx="11422626" cy="727587"/>
          </a:xfrm>
        </p:spPr>
        <p:txBody>
          <a:bodyPr/>
          <a:lstStyle/>
          <a:p>
            <a:r>
              <a:rPr lang="en-US" dirty="0"/>
              <a:t>STEP 7 </a:t>
            </a:r>
            <a:r>
              <a:rPr lang="en-US" b="1" dirty="0"/>
              <a:t>Category Performance Summary Table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FA1AD-7B40-10A2-A95D-61B52B575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1148"/>
            <a:ext cx="12192000" cy="50636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10A73F-0F36-DFA7-4F4F-6E06FE41BB11}"/>
              </a:ext>
            </a:extLst>
          </p:cNvPr>
          <p:cNvSpPr txBox="1"/>
          <p:nvPr/>
        </p:nvSpPr>
        <p:spPr>
          <a:xfrm>
            <a:off x="0" y="486697"/>
            <a:ext cx="10795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table provides a detailed breakdown of revenue, quantity sold, cancellations, and cancellation percentage across all product categories.</a:t>
            </a:r>
            <a:br>
              <a:rPr lang="en-US" dirty="0"/>
            </a:br>
            <a:r>
              <a:rPr lang="en-US" dirty="0"/>
              <a:t>It helps identify top-performing categories as well as those requiring operational or inventory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4705744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478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STEP 1 DATA CLEANING</vt:lpstr>
      <vt:lpstr>STEP 2 Dashboard Explanation</vt:lpstr>
      <vt:lpstr>STEP 3 KPI Summary </vt:lpstr>
      <vt:lpstr>STEP 4 Revenue by Date</vt:lpstr>
      <vt:lpstr>STEP 5 Revenue Distribution by State and City</vt:lpstr>
      <vt:lpstr>STEP 6 Revenue by Category &amp; Product Size</vt:lpstr>
      <vt:lpstr>STEP 7 Category Performance Summary Table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Abhishek Panwar</cp:lastModifiedBy>
  <cp:revision>4</cp:revision>
  <dcterms:created xsi:type="dcterms:W3CDTF">2018-06-07T21:39:02Z</dcterms:created>
  <dcterms:modified xsi:type="dcterms:W3CDTF">2025-11-14T14:27:55Z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